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5"/>
  </p:notesMasterIdLst>
  <p:sldIdLst>
    <p:sldId id="256" r:id="rId3"/>
    <p:sldId id="571" r:id="rId4"/>
    <p:sldId id="572" r:id="rId5"/>
    <p:sldId id="573" r:id="rId6"/>
    <p:sldId id="574" r:id="rId7"/>
    <p:sldId id="575" r:id="rId8"/>
    <p:sldId id="576" r:id="rId9"/>
    <p:sldId id="580"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988D67-2877-46AD-A063-2C995E332B6B}" v="33" dt="2026-03-10T05:01:33.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3/10/2026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arthlad1124/AICTE-Project" TargetMode="External"/><Relationship Id="rId2" Type="http://schemas.openxmlformats.org/officeDocument/2006/relationships/hyperlink" Target="https://learn.microsoft.com/power-bi"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Rectangle 18"/>
          <p:cNvSpPr/>
          <p:nvPr/>
        </p:nvSpPr>
        <p:spPr>
          <a:xfrm>
            <a:off x="0" y="3429000"/>
            <a:ext cx="228600"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 y="6509659"/>
            <a:ext cx="12192001"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165771"/>
            <a:ext cx="5108980" cy="250676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r>
              <a:rPr lang="en-US" sz="5100" b="1" dirty="0"/>
            </a:br>
            <a:r>
              <a:rPr lang="en-US" sz="5100" b="1" cap="all" dirty="0">
                <a:latin typeface="Aptos"/>
              </a:rPr>
              <a:t>Samsung Supply chain dashboard</a:t>
            </a:r>
            <a:endParaRPr lang="en-US" sz="5100" dirty="0">
              <a:latin typeface="Aptos"/>
            </a:endParaRPr>
          </a:p>
          <a:p>
            <a:pPr algn="l"/>
            <a:endParaRPr lang="en-US" sz="5100" b="1" kern="1200" dirty="0"/>
          </a:p>
        </p:txBody>
      </p:sp>
      <p:sp>
        <p:nvSpPr>
          <p:cNvPr id="5" name="Subtitle 2"/>
          <p:cNvSpPr>
            <a:spLocks noGrp="1"/>
          </p:cNvSpPr>
          <p:nvPr/>
        </p:nvSpPr>
        <p:spPr>
          <a:xfrm>
            <a:off x="594126" y="3739889"/>
            <a:ext cx="5313261" cy="2159629"/>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US" sz="1600" cap="all" dirty="0"/>
              <a:t>LAD PARTH VINODKUMAR</a:t>
            </a:r>
          </a:p>
          <a:p>
            <a:pPr algn="l">
              <a:spcAft>
                <a:spcPts val="600"/>
              </a:spcAft>
            </a:pPr>
            <a:r>
              <a:rPr lang="en-US" sz="1600" b="1" cap="all" dirty="0"/>
              <a:t>College Name: </a:t>
            </a:r>
            <a:r>
              <a:rPr lang="en-US" sz="1600" cap="all" dirty="0"/>
              <a:t>PARUL UNIVERSITY</a:t>
            </a:r>
          </a:p>
          <a:p>
            <a:pPr algn="l">
              <a:spcAft>
                <a:spcPts val="600"/>
              </a:spcAft>
            </a:pPr>
            <a:r>
              <a:rPr lang="en-US" sz="1600" b="1" cap="all" dirty="0"/>
              <a:t>Department: </a:t>
            </a:r>
            <a:r>
              <a:rPr lang="en-US" sz="1600" cap="all" dirty="0" err="1"/>
              <a:t>cse</a:t>
            </a:r>
            <a:endParaRPr lang="en-US" sz="1600" cap="all" dirty="0"/>
          </a:p>
          <a:p>
            <a:pPr algn="l">
              <a:spcAft>
                <a:spcPts val="600"/>
              </a:spcAft>
            </a:pPr>
            <a:r>
              <a:rPr lang="en-US" sz="1600" b="1" cap="all" dirty="0"/>
              <a:t>Email ID:</a:t>
            </a:r>
            <a:r>
              <a:rPr lang="en-US" sz="1600" cap="all" dirty="0"/>
              <a:t> 2203051050403@Paruluniversity.ac.in</a:t>
            </a:r>
          </a:p>
        </p:txBody>
      </p:sp>
      <p:pic>
        <p:nvPicPr>
          <p:cNvPr id="6" name="Picture 5">
            <a:extLst>
              <a:ext uri="{FF2B5EF4-FFF2-40B4-BE49-F238E27FC236}">
                <a16:creationId xmlns:a16="http://schemas.microsoft.com/office/drawing/2014/main" id="{156F5EBE-AC69-A89F-F0E0-72993D137CC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08338" y="1418636"/>
            <a:ext cx="3194088" cy="4020091"/>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4000" b="1" cap="all" dirty="0">
                <a:latin typeface="Arial" panose="020B0604020202020204"/>
                <a:cs typeface="Arial" panose="020B0604020202020204"/>
              </a:rPr>
              <a:t>OUTLINE:</a:t>
            </a:r>
            <a:endParaRPr lang="en-US" sz="40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Problem Statement </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Proposed System/Solution</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System Development Approach </a:t>
            </a:r>
            <a:r>
              <a:rPr lang="en-US" sz="2000" dirty="0">
                <a:latin typeface="Calibri" panose="020F0502020204030204" pitchFamily="34" charset="0"/>
                <a:ea typeface="Calibri" panose="020F0502020204030204" pitchFamily="34" charset="0"/>
                <a:cs typeface="Calibri" panose="020F0502020204030204" pitchFamily="34" charset="0"/>
              </a:rPr>
              <a:t> </a:t>
            </a:r>
          </a:p>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Algorithm &amp; Deployment  </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Result (Output Image)</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Conclusion</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Future Scope</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References</a:t>
            </a: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Problem Statement:</a:t>
            </a:r>
            <a:endParaRPr lang="en-US" sz="4000" dirty="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Organizations with complex supply chains often struggle to monitor supplier performance, shipment status, inventory levels, and customer demand in a single system. </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Data related to suppliers, manufacturers, shipments, and customers is usually scattered across different sources, making it difficult to analyze operational performance and identify inefficiencies. Without a centralized analytical view, decision-makers cannot quickly evaluate revenue, profit, order fulfillment efficiency, or shipment distribution across product categories. </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Therefore, there is a need for a system that can consolidate supply chain data and present meaningful insights for better operational monitoring.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72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US" sz="1800" dirty="0">
                <a:latin typeface="Calibri" panose="020F0502020204030204" pitchFamily="34" charset="0"/>
                <a:ea typeface="Calibri" panose="020F0502020204030204" pitchFamily="34" charset="0"/>
                <a:cs typeface="Calibri" panose="020F0502020204030204" pitchFamily="34" charset="0"/>
              </a:rPr>
              <a:t>The proposed system is an interactive </a:t>
            </a:r>
            <a:r>
              <a:rPr lang="en-US" sz="1800" b="1" dirty="0">
                <a:latin typeface="Calibri" panose="020F0502020204030204" pitchFamily="34" charset="0"/>
                <a:ea typeface="Calibri" panose="020F0502020204030204" pitchFamily="34" charset="0"/>
                <a:cs typeface="Calibri" panose="020F0502020204030204" pitchFamily="34" charset="0"/>
              </a:rPr>
              <a:t>Supply Chain &amp; Logistics Dashboard</a:t>
            </a:r>
            <a:r>
              <a:rPr lang="en-US" sz="1800" dirty="0">
                <a:latin typeface="Calibri" panose="020F0502020204030204" pitchFamily="34" charset="0"/>
                <a:ea typeface="Calibri" panose="020F0502020204030204" pitchFamily="34" charset="0"/>
                <a:cs typeface="Calibri" panose="020F0502020204030204" pitchFamily="34" charset="0"/>
              </a:rPr>
              <a:t> developed using </a:t>
            </a:r>
            <a:r>
              <a:rPr lang="en-US" sz="1800" b="1" dirty="0">
                <a:latin typeface="Calibri" panose="020F0502020204030204" pitchFamily="34" charset="0"/>
                <a:ea typeface="Calibri" panose="020F0502020204030204" pitchFamily="34" charset="0"/>
                <a:cs typeface="Calibri" panose="020F0502020204030204" pitchFamily="34" charset="0"/>
              </a:rPr>
              <a:t>Microsoft Power BI</a:t>
            </a:r>
            <a:r>
              <a:rPr lang="en-US" sz="1800" dirty="0">
                <a:latin typeface="Calibri" panose="020F0502020204030204" pitchFamily="34" charset="0"/>
                <a:ea typeface="Calibri" panose="020F0502020204030204" pitchFamily="34" charset="0"/>
                <a:cs typeface="Calibri" panose="020F0502020204030204" pitchFamily="34" charset="0"/>
              </a:rPr>
              <a:t>. </a:t>
            </a:r>
          </a:p>
          <a:p>
            <a:pPr marL="0" indent="0">
              <a:spcBef>
                <a:spcPct val="20000"/>
              </a:spcBef>
              <a:spcAft>
                <a:spcPts val="600"/>
              </a:spcAft>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panose="020B0604020202020204"/>
              <a:buChar char="•"/>
            </a:pPr>
            <a:r>
              <a:rPr lang="en-US" sz="1800" dirty="0">
                <a:latin typeface="Calibri" panose="020F0502020204030204" pitchFamily="34" charset="0"/>
                <a:ea typeface="Calibri" panose="020F0502020204030204" pitchFamily="34" charset="0"/>
                <a:cs typeface="Calibri" panose="020F0502020204030204" pitchFamily="34" charset="0"/>
              </a:rPr>
              <a:t>The dashboard integrates data from different supply chain entities such as suppliers, manufacturers, shipments, and customers to provide a centralized view of operational performance. </a:t>
            </a:r>
          </a:p>
          <a:p>
            <a:pPr marL="0" indent="0">
              <a:spcBef>
                <a:spcPct val="20000"/>
              </a:spcBef>
              <a:spcAft>
                <a:spcPts val="600"/>
              </a:spcAft>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panose="020B0604020202020204"/>
              <a:buChar char="•"/>
            </a:pPr>
            <a:r>
              <a:rPr lang="en-US" sz="1800" dirty="0">
                <a:latin typeface="Calibri" panose="020F0502020204030204" pitchFamily="34" charset="0"/>
                <a:ea typeface="Calibri" panose="020F0502020204030204" pitchFamily="34" charset="0"/>
                <a:cs typeface="Calibri" panose="020F0502020204030204" pitchFamily="34" charset="0"/>
              </a:rPr>
              <a:t>It visualizes key business metrics including total revenue, profit, profit margin, order quantity, inventory value, shipment quantity, and customer demand. </a:t>
            </a:r>
          </a:p>
          <a:p>
            <a:pPr marL="0" indent="0">
              <a:spcBef>
                <a:spcPct val="20000"/>
              </a:spcBef>
              <a:spcAft>
                <a:spcPts val="600"/>
              </a:spcAft>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panose="020B0604020202020204"/>
              <a:buChar char="•"/>
            </a:pPr>
            <a:r>
              <a:rPr lang="en-US" sz="1800" dirty="0">
                <a:latin typeface="Calibri" panose="020F0502020204030204" pitchFamily="34" charset="0"/>
                <a:ea typeface="Calibri" panose="020F0502020204030204" pitchFamily="34" charset="0"/>
                <a:cs typeface="Calibri" panose="020F0502020204030204" pitchFamily="34" charset="0"/>
              </a:rPr>
              <a:t>The dashboard allows stakeholders to quickly analyze supplier performance, product inventory distribution, and shipment trends through interactive charts and KPIs, enabling better decision-making.</a:t>
            </a:r>
            <a:endParaRPr lang="en-GB" sz="1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The dashboard was developed using the following technologies:</a:t>
            </a:r>
          </a:p>
          <a:p>
            <a:r>
              <a:rPr lang="en-US" sz="1800" b="1" dirty="0">
                <a:latin typeface="Calibri" panose="020F0502020204030204" pitchFamily="34" charset="0"/>
                <a:ea typeface="Calibri" panose="020F0502020204030204" pitchFamily="34" charset="0"/>
                <a:cs typeface="Calibri" panose="020F0502020204030204" pitchFamily="34" charset="0"/>
              </a:rPr>
              <a:t>Microsoft Power BI Desktop</a:t>
            </a:r>
            <a:r>
              <a:rPr lang="en-US" sz="1800" dirty="0">
                <a:latin typeface="Calibri" panose="020F0502020204030204" pitchFamily="34" charset="0"/>
                <a:ea typeface="Calibri" panose="020F0502020204030204" pitchFamily="34" charset="0"/>
                <a:cs typeface="Calibri" panose="020F0502020204030204" pitchFamily="34" charset="0"/>
              </a:rPr>
              <a:t> – for data visualization and dashboard creation</a:t>
            </a:r>
          </a:p>
          <a:p>
            <a:r>
              <a:rPr lang="en-US" sz="1800" b="1" dirty="0">
                <a:latin typeface="Calibri" panose="020F0502020204030204" pitchFamily="34" charset="0"/>
                <a:ea typeface="Calibri" panose="020F0502020204030204" pitchFamily="34" charset="0"/>
                <a:cs typeface="Calibri" panose="020F0502020204030204" pitchFamily="34" charset="0"/>
              </a:rPr>
              <a:t>Power Query</a:t>
            </a:r>
            <a:r>
              <a:rPr lang="en-US" sz="1800" dirty="0">
                <a:latin typeface="Calibri" panose="020F0502020204030204" pitchFamily="34" charset="0"/>
                <a:ea typeface="Calibri" panose="020F0502020204030204" pitchFamily="34" charset="0"/>
                <a:cs typeface="Calibri" panose="020F0502020204030204" pitchFamily="34" charset="0"/>
              </a:rPr>
              <a:t> – for data cleaning and transformation</a:t>
            </a:r>
          </a:p>
          <a:p>
            <a:r>
              <a:rPr lang="en-US" sz="1800" b="1" dirty="0">
                <a:latin typeface="Calibri" panose="020F0502020204030204" pitchFamily="34" charset="0"/>
                <a:ea typeface="Calibri" panose="020F0502020204030204" pitchFamily="34" charset="0"/>
                <a:cs typeface="Calibri" panose="020F0502020204030204" pitchFamily="34" charset="0"/>
              </a:rPr>
              <a:t>DAX (Data Analysis Expressions)</a:t>
            </a:r>
            <a:r>
              <a:rPr lang="en-US" sz="1800" dirty="0">
                <a:latin typeface="Calibri" panose="020F0502020204030204" pitchFamily="34" charset="0"/>
                <a:ea typeface="Calibri" panose="020F0502020204030204" pitchFamily="34" charset="0"/>
                <a:cs typeface="Calibri" panose="020F0502020204030204" pitchFamily="34" charset="0"/>
              </a:rPr>
              <a:t> – for creating calculated measures such as profit margin and aggregated metrics</a:t>
            </a:r>
          </a:p>
          <a:p>
            <a:r>
              <a:rPr lang="en-US" sz="1800" b="1" dirty="0">
                <a:latin typeface="Calibri" panose="020F0502020204030204" pitchFamily="34" charset="0"/>
                <a:ea typeface="Calibri" panose="020F0502020204030204" pitchFamily="34" charset="0"/>
                <a:cs typeface="Calibri" panose="020F0502020204030204" pitchFamily="34" charset="0"/>
              </a:rPr>
              <a:t>Data Modeling</a:t>
            </a:r>
            <a:r>
              <a:rPr lang="en-US" sz="1800" dirty="0">
                <a:latin typeface="Calibri" panose="020F0502020204030204" pitchFamily="34" charset="0"/>
                <a:ea typeface="Calibri" panose="020F0502020204030204" pitchFamily="34" charset="0"/>
                <a:cs typeface="Calibri" panose="020F0502020204030204" pitchFamily="34" charset="0"/>
              </a:rPr>
              <a:t> – to establish relationships between supplier, manufacturer, shipment, and customer datasets</a:t>
            </a:r>
          </a:p>
          <a:p>
            <a:r>
              <a:rPr lang="en-US" sz="1800" b="1" dirty="0">
                <a:latin typeface="Calibri" panose="020F0502020204030204" pitchFamily="34" charset="0"/>
                <a:ea typeface="Calibri" panose="020F0502020204030204" pitchFamily="34" charset="0"/>
                <a:cs typeface="Calibri" panose="020F0502020204030204" pitchFamily="34" charset="0"/>
              </a:rPr>
              <a:t>Interactive Visualizations</a:t>
            </a:r>
            <a:r>
              <a:rPr lang="en-US" sz="1800" dirty="0">
                <a:latin typeface="Calibri" panose="020F0502020204030204" pitchFamily="34" charset="0"/>
                <a:ea typeface="Calibri" panose="020F0502020204030204" pitchFamily="34" charset="0"/>
                <a:cs typeface="Calibri" panose="020F0502020204030204" pitchFamily="34" charset="0"/>
              </a:rPr>
              <a:t> – including KPI cards, bar charts, and donut charts for performance analysis</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This approach ensures efficient data processing and clear representation of supply chain insights.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The dashboard development followed these steps:</a:t>
            </a:r>
          </a:p>
          <a:p>
            <a:pPr marL="342900" indent="-3429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Data Collection: </a:t>
            </a:r>
            <a:r>
              <a:rPr lang="en-US" sz="1800" dirty="0">
                <a:latin typeface="Calibri" panose="020F0502020204030204" pitchFamily="34" charset="0"/>
                <a:ea typeface="Calibri" panose="020F0502020204030204" pitchFamily="34" charset="0"/>
                <a:cs typeface="Calibri" panose="020F0502020204030204" pitchFamily="34" charset="0"/>
              </a:rPr>
              <a:t>Supply chain datasets containing supplier details, shipment data, inventory information, and customer orders were collected.</a:t>
            </a:r>
          </a:p>
          <a:p>
            <a:pPr marL="342900" indent="-3429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Data Cleaning &amp; Transformation: </a:t>
            </a:r>
            <a:r>
              <a:rPr lang="en-US" sz="1800" dirty="0">
                <a:latin typeface="Calibri" panose="020F0502020204030204" pitchFamily="34" charset="0"/>
                <a:ea typeface="Calibri" panose="020F0502020204030204" pitchFamily="34" charset="0"/>
                <a:cs typeface="Calibri" panose="020F0502020204030204" pitchFamily="34" charset="0"/>
              </a:rPr>
              <a:t>Data was processed using Power Query to remove duplicates, handle missing values, and standardize formats.</a:t>
            </a:r>
          </a:p>
          <a:p>
            <a:pPr marL="342900" indent="-3429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Data Modeling: </a:t>
            </a:r>
            <a:r>
              <a:rPr lang="en-US" sz="1800" dirty="0">
                <a:latin typeface="Calibri" panose="020F0502020204030204" pitchFamily="34" charset="0"/>
                <a:ea typeface="Calibri" panose="020F0502020204030204" pitchFamily="34" charset="0"/>
                <a:cs typeface="Calibri" panose="020F0502020204030204" pitchFamily="34" charset="0"/>
              </a:rPr>
              <a:t>Relationships were created between multiple tables to enable cross-analysis of supply chain components.</a:t>
            </a:r>
          </a:p>
          <a:p>
            <a:pPr marL="342900" indent="-3429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Measure Creation: </a:t>
            </a:r>
            <a:r>
              <a:rPr lang="en-US" sz="1800" dirty="0">
                <a:latin typeface="Calibri" panose="020F0502020204030204" pitchFamily="34" charset="0"/>
                <a:ea typeface="Calibri" panose="020F0502020204030204" pitchFamily="34" charset="0"/>
                <a:cs typeface="Calibri" panose="020F0502020204030204" pitchFamily="34" charset="0"/>
              </a:rPr>
              <a:t>Key metrics such as Total Revenue, Profit, Profit Margin, Order Quantity, and Inventory Value were calculated using DAX formulas.</a:t>
            </a:r>
          </a:p>
          <a:p>
            <a:pPr marL="342900" indent="-3429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Dashboard Design: </a:t>
            </a:r>
            <a:r>
              <a:rPr lang="en-US" sz="1800" dirty="0">
                <a:latin typeface="Calibri" panose="020F0502020204030204" pitchFamily="34" charset="0"/>
                <a:ea typeface="Calibri" panose="020F0502020204030204" pitchFamily="34" charset="0"/>
                <a:cs typeface="Calibri" panose="020F0502020204030204" pitchFamily="34" charset="0"/>
              </a:rPr>
              <a:t>Various visualizations including KPI cards, bar charts, and donut charts were added to display performance insights.</a:t>
            </a:r>
          </a:p>
          <a:p>
            <a:pPr marL="342900" indent="-342900">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Deployment: </a:t>
            </a:r>
            <a:r>
              <a:rPr lang="en-US" sz="1800" dirty="0">
                <a:latin typeface="Calibri" panose="020F0502020204030204" pitchFamily="34" charset="0"/>
                <a:ea typeface="Calibri" panose="020F0502020204030204" pitchFamily="34" charset="0"/>
                <a:cs typeface="Calibri" panose="020F0502020204030204" pitchFamily="34" charset="0"/>
              </a:rPr>
              <a:t>The dashboard can be deployed through </a:t>
            </a:r>
            <a:r>
              <a:rPr lang="en-US" sz="1800" b="1" dirty="0">
                <a:latin typeface="Calibri" panose="020F0502020204030204" pitchFamily="34" charset="0"/>
                <a:ea typeface="Calibri" panose="020F0502020204030204" pitchFamily="34" charset="0"/>
                <a:cs typeface="Calibri" panose="020F0502020204030204" pitchFamily="34" charset="0"/>
              </a:rPr>
              <a:t>Power BI Service</a:t>
            </a:r>
            <a:r>
              <a:rPr lang="en-US" sz="1800" dirty="0">
                <a:latin typeface="Calibri" panose="020F0502020204030204" pitchFamily="34" charset="0"/>
                <a:ea typeface="Calibri" panose="020F0502020204030204" pitchFamily="34" charset="0"/>
                <a:cs typeface="Calibri" panose="020F0502020204030204" pitchFamily="34" charset="0"/>
              </a:rPr>
              <a:t> for real-time monitoring and sharing with stakeholders.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0" y="668567"/>
            <a:ext cx="3705444" cy="703036"/>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The developed dashboard successfully visualizes the performance of the supply chain system. Key results include:</a:t>
            </a:r>
          </a:p>
          <a:p>
            <a:r>
              <a:rPr lang="en-US" sz="1800" b="1" dirty="0">
                <a:latin typeface="Calibri" panose="020F0502020204030204" pitchFamily="34" charset="0"/>
                <a:ea typeface="Calibri" panose="020F0502020204030204" pitchFamily="34" charset="0"/>
                <a:cs typeface="Calibri" panose="020F0502020204030204" pitchFamily="34" charset="0"/>
              </a:rPr>
              <a:t>Total Revenue:</a:t>
            </a:r>
            <a:r>
              <a:rPr lang="en-US" sz="1800" dirty="0">
                <a:latin typeface="Calibri" panose="020F0502020204030204" pitchFamily="34" charset="0"/>
                <a:ea typeface="Calibri" panose="020F0502020204030204" pitchFamily="34" charset="0"/>
                <a:cs typeface="Calibri" panose="020F0502020204030204" pitchFamily="34" charset="0"/>
              </a:rPr>
              <a:t> 176.95M</a:t>
            </a:r>
          </a:p>
          <a:p>
            <a:r>
              <a:rPr lang="en-US" sz="1800" b="1" dirty="0">
                <a:latin typeface="Calibri" panose="020F0502020204030204" pitchFamily="34" charset="0"/>
                <a:ea typeface="Calibri" panose="020F0502020204030204" pitchFamily="34" charset="0"/>
                <a:cs typeface="Calibri" panose="020F0502020204030204" pitchFamily="34" charset="0"/>
              </a:rPr>
              <a:t>Total Profit:</a:t>
            </a:r>
            <a:r>
              <a:rPr lang="en-US" sz="1800" dirty="0">
                <a:latin typeface="Calibri" panose="020F0502020204030204" pitchFamily="34" charset="0"/>
                <a:ea typeface="Calibri" panose="020F0502020204030204" pitchFamily="34" charset="0"/>
                <a:cs typeface="Calibri" panose="020F0502020204030204" pitchFamily="34" charset="0"/>
              </a:rPr>
              <a:t> 48.56M</a:t>
            </a:r>
          </a:p>
          <a:p>
            <a:r>
              <a:rPr lang="en-US" sz="1800" b="1" dirty="0">
                <a:latin typeface="Calibri" panose="020F0502020204030204" pitchFamily="34" charset="0"/>
                <a:ea typeface="Calibri" panose="020F0502020204030204" pitchFamily="34" charset="0"/>
                <a:cs typeface="Calibri" panose="020F0502020204030204" pitchFamily="34" charset="0"/>
              </a:rPr>
              <a:t>Profit Margin:</a:t>
            </a:r>
            <a:r>
              <a:rPr lang="en-US" sz="1800" dirty="0">
                <a:latin typeface="Calibri" panose="020F0502020204030204" pitchFamily="34" charset="0"/>
                <a:ea typeface="Calibri" panose="020F0502020204030204" pitchFamily="34" charset="0"/>
                <a:cs typeface="Calibri" panose="020F0502020204030204" pitchFamily="34" charset="0"/>
              </a:rPr>
              <a:t> 27%</a:t>
            </a:r>
          </a:p>
          <a:p>
            <a:r>
              <a:rPr lang="en-US" sz="1800" b="1" dirty="0">
                <a:latin typeface="Calibri" panose="020F0502020204030204" pitchFamily="34" charset="0"/>
                <a:ea typeface="Calibri" panose="020F0502020204030204" pitchFamily="34" charset="0"/>
                <a:cs typeface="Calibri" panose="020F0502020204030204" pitchFamily="34" charset="0"/>
              </a:rPr>
              <a:t>Perfect Order Rate:</a:t>
            </a:r>
            <a:r>
              <a:rPr lang="en-US" sz="1800" dirty="0">
                <a:latin typeface="Calibri" panose="020F0502020204030204" pitchFamily="34" charset="0"/>
                <a:ea typeface="Calibri" panose="020F0502020204030204" pitchFamily="34" charset="0"/>
                <a:cs typeface="Calibri" panose="020F0502020204030204" pitchFamily="34" charset="0"/>
              </a:rPr>
              <a:t> 75%</a:t>
            </a:r>
          </a:p>
          <a:p>
            <a:r>
              <a:rPr lang="en-US" sz="1800" b="1" dirty="0">
                <a:latin typeface="Calibri" panose="020F0502020204030204" pitchFamily="34" charset="0"/>
                <a:ea typeface="Calibri" panose="020F0502020204030204" pitchFamily="34" charset="0"/>
                <a:cs typeface="Calibri" panose="020F0502020204030204" pitchFamily="34" charset="0"/>
              </a:rPr>
              <a:t>Total Shipments:</a:t>
            </a:r>
            <a:r>
              <a:rPr lang="en-US" sz="1800" dirty="0">
                <a:latin typeface="Calibri" panose="020F0502020204030204" pitchFamily="34" charset="0"/>
                <a:ea typeface="Calibri" panose="020F0502020204030204" pitchFamily="34" charset="0"/>
                <a:cs typeface="Calibri" panose="020F0502020204030204" pitchFamily="34" charset="0"/>
              </a:rPr>
              <a:t> 7500</a:t>
            </a:r>
          </a:p>
          <a:p>
            <a:r>
              <a:rPr lang="en-US" sz="1800" dirty="0">
                <a:latin typeface="Calibri" panose="020F0502020204030204" pitchFamily="34" charset="0"/>
                <a:ea typeface="Calibri" panose="020F0502020204030204" pitchFamily="34" charset="0"/>
                <a:cs typeface="Calibri" panose="020F0502020204030204" pitchFamily="34" charset="0"/>
              </a:rPr>
              <a:t>The dashboard also provides insights into supplier order quantities, product inventory distribution, and shipment categories such as smartphones, tablets, televisions, wearables, and appliances.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AE9C94A-6127-A8CA-7BF6-1A8D00121F5B}"/>
              </a:ext>
            </a:extLst>
          </p:cNvPr>
          <p:cNvSpPr>
            <a:spLocks noGrp="1"/>
          </p:cNvSpPr>
          <p:nvPr>
            <p:ph type="title"/>
          </p:nvPr>
        </p:nvSpPr>
        <p:spPr>
          <a:xfrm>
            <a:off x="-1190" y="603251"/>
            <a:ext cx="3705444" cy="703036"/>
          </a:xfrm>
        </p:spPr>
        <p:txBody>
          <a:bodyPr lIns="91440" tIns="45720" rIns="91440" bIns="45720" anchor="t">
            <a:normAutofit/>
          </a:bodyPr>
          <a:lstStyle/>
          <a:p>
            <a:r>
              <a:rPr lang="en-US" sz="4000" b="1" cap="all" dirty="0">
                <a:latin typeface="Arial" panose="020B0604020202020204"/>
                <a:cs typeface="Arial" panose="020B0604020202020204"/>
              </a:rPr>
              <a:t>dashboard:</a:t>
            </a:r>
            <a:endParaRPr lang="en-US" sz="4000" dirty="0"/>
          </a:p>
        </p:txBody>
      </p:sp>
      <p:pic>
        <p:nvPicPr>
          <p:cNvPr id="6" name="Picture 5">
            <a:extLst>
              <a:ext uri="{FF2B5EF4-FFF2-40B4-BE49-F238E27FC236}">
                <a16:creationId xmlns:a16="http://schemas.microsoft.com/office/drawing/2014/main" id="{67C057A9-C502-23D9-C7EE-00657817F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3020"/>
            <a:ext cx="12192000" cy="5533054"/>
          </a:xfrm>
          <a:prstGeom prst="rect">
            <a:avLst/>
          </a:prstGeom>
        </p:spPr>
      </p:pic>
    </p:spTree>
    <p:extLst>
      <p:ext uri="{BB962C8B-B14F-4D97-AF65-F5344CB8AC3E}">
        <p14:creationId xmlns:p14="http://schemas.microsoft.com/office/powerpoint/2010/main" val="2747460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71650"/>
            <a:ext cx="6096548" cy="905225"/>
          </a:xfrm>
        </p:spPr>
        <p:txBody>
          <a:bodyPr lIns="91440" tIns="45720" rIns="91440" bIns="45720" anchor="t">
            <a:normAutofit/>
          </a:bodyPr>
          <a:lstStyle/>
          <a:p>
            <a:r>
              <a:rPr lang="en-US" sz="4000" b="1" cap="all" dirty="0">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The Supply Chain &amp; Logistics Dashboard provides a comprehensive analytical view of business operations by integrating supplier, manufacturer, shipment, and customer data into a single platform. Through interactive visualizations and key performance indicators, the system enables organizations to monitor revenue, profit, order fulfillment performance, and product demand effectively. This dashboard improves transparency in supply chain operations and helps decision-makers identify trends, optimize logistics, and enhance overall operational efficiency.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52989"/>
            <a:ext cx="5934817" cy="783927"/>
          </a:xfrm>
        </p:spPr>
        <p:txBody>
          <a:bodyPr lIns="91440" tIns="45720" rIns="91440" bIns="45720" anchor="t">
            <a:normAutofit/>
          </a:bodyPr>
          <a:lstStyle/>
          <a:p>
            <a:r>
              <a:rPr lang="en-US" sz="4000" b="1" cap="all" dirty="0">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The system can be further enhanced by:</a:t>
            </a:r>
          </a:p>
          <a:p>
            <a:r>
              <a:rPr lang="en-US" sz="1800" dirty="0">
                <a:latin typeface="Calibri" panose="020F0502020204030204" pitchFamily="34" charset="0"/>
                <a:ea typeface="Calibri" panose="020F0502020204030204" pitchFamily="34" charset="0"/>
                <a:cs typeface="Calibri" panose="020F0502020204030204" pitchFamily="34" charset="0"/>
              </a:rPr>
              <a:t>Integrating </a:t>
            </a:r>
            <a:r>
              <a:rPr lang="en-US" sz="1800" b="1" dirty="0">
                <a:latin typeface="Calibri" panose="020F0502020204030204" pitchFamily="34" charset="0"/>
                <a:ea typeface="Calibri" panose="020F0502020204030204" pitchFamily="34" charset="0"/>
                <a:cs typeface="Calibri" panose="020F0502020204030204" pitchFamily="34" charset="0"/>
              </a:rPr>
              <a:t>real-time data sources</a:t>
            </a:r>
            <a:r>
              <a:rPr lang="en-US" sz="1800" dirty="0">
                <a:latin typeface="Calibri" panose="020F0502020204030204" pitchFamily="34" charset="0"/>
                <a:ea typeface="Calibri" panose="020F0502020204030204" pitchFamily="34" charset="0"/>
                <a:cs typeface="Calibri" panose="020F0502020204030204" pitchFamily="34" charset="0"/>
              </a:rPr>
              <a:t> for live supply chain monitoring</a:t>
            </a:r>
          </a:p>
          <a:p>
            <a:r>
              <a:rPr lang="en-US" sz="1800" dirty="0">
                <a:latin typeface="Calibri" panose="020F0502020204030204" pitchFamily="34" charset="0"/>
                <a:ea typeface="Calibri" panose="020F0502020204030204" pitchFamily="34" charset="0"/>
                <a:cs typeface="Calibri" panose="020F0502020204030204" pitchFamily="34" charset="0"/>
              </a:rPr>
              <a:t>Adding </a:t>
            </a:r>
            <a:r>
              <a:rPr lang="en-US" sz="1800" b="1" dirty="0">
                <a:latin typeface="Calibri" panose="020F0502020204030204" pitchFamily="34" charset="0"/>
                <a:ea typeface="Calibri" panose="020F0502020204030204" pitchFamily="34" charset="0"/>
                <a:cs typeface="Calibri" panose="020F0502020204030204" pitchFamily="34" charset="0"/>
              </a:rPr>
              <a:t>predictive analytics</a:t>
            </a:r>
            <a:r>
              <a:rPr lang="en-US" sz="1800" dirty="0">
                <a:latin typeface="Calibri" panose="020F0502020204030204" pitchFamily="34" charset="0"/>
                <a:ea typeface="Calibri" panose="020F0502020204030204" pitchFamily="34" charset="0"/>
                <a:cs typeface="Calibri" panose="020F0502020204030204" pitchFamily="34" charset="0"/>
              </a:rPr>
              <a:t> to forecast product demand and shipment delays</a:t>
            </a:r>
          </a:p>
          <a:p>
            <a:r>
              <a:rPr lang="en-US" sz="1800" dirty="0">
                <a:latin typeface="Calibri" panose="020F0502020204030204" pitchFamily="34" charset="0"/>
                <a:ea typeface="Calibri" panose="020F0502020204030204" pitchFamily="34" charset="0"/>
                <a:cs typeface="Calibri" panose="020F0502020204030204" pitchFamily="34" charset="0"/>
              </a:rPr>
              <a:t>Implementing </a:t>
            </a:r>
            <a:r>
              <a:rPr lang="en-US" sz="1800" b="1" dirty="0">
                <a:latin typeface="Calibri" panose="020F0502020204030204" pitchFamily="34" charset="0"/>
                <a:ea typeface="Calibri" panose="020F0502020204030204" pitchFamily="34" charset="0"/>
                <a:cs typeface="Calibri" panose="020F0502020204030204" pitchFamily="34" charset="0"/>
              </a:rPr>
              <a:t>AI-based supply chain optimization</a:t>
            </a: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Incorporating </a:t>
            </a:r>
            <a:r>
              <a:rPr lang="en-US" sz="1800" b="1" dirty="0">
                <a:latin typeface="Calibri" panose="020F0502020204030204" pitchFamily="34" charset="0"/>
                <a:ea typeface="Calibri" panose="020F0502020204030204" pitchFamily="34" charset="0"/>
                <a:cs typeface="Calibri" panose="020F0502020204030204" pitchFamily="34" charset="0"/>
              </a:rPr>
              <a:t>geographical maps</a:t>
            </a:r>
            <a:r>
              <a:rPr lang="en-US" sz="1800" dirty="0">
                <a:latin typeface="Calibri" panose="020F0502020204030204" pitchFamily="34" charset="0"/>
                <a:ea typeface="Calibri" panose="020F0502020204030204" pitchFamily="34" charset="0"/>
                <a:cs typeface="Calibri" panose="020F0502020204030204" pitchFamily="34" charset="0"/>
              </a:rPr>
              <a:t> for shipment tracking</a:t>
            </a:r>
          </a:p>
          <a:p>
            <a:r>
              <a:rPr lang="en-US" sz="1800" dirty="0">
                <a:latin typeface="Calibri" panose="020F0502020204030204" pitchFamily="34" charset="0"/>
                <a:ea typeface="Calibri" panose="020F0502020204030204" pitchFamily="34" charset="0"/>
                <a:cs typeface="Calibri" panose="020F0502020204030204" pitchFamily="34" charset="0"/>
              </a:rPr>
              <a:t>Deploying the dashboard on </a:t>
            </a:r>
            <a:r>
              <a:rPr lang="en-US" sz="1800" b="1" dirty="0">
                <a:latin typeface="Calibri" panose="020F0502020204030204" pitchFamily="34" charset="0"/>
                <a:ea typeface="Calibri" panose="020F0502020204030204" pitchFamily="34" charset="0"/>
                <a:cs typeface="Calibri" panose="020F0502020204030204" pitchFamily="34" charset="0"/>
              </a:rPr>
              <a:t>Power BI Service for global access and collaboration</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52989"/>
            <a:ext cx="8146172" cy="709282"/>
          </a:xfrm>
        </p:spPr>
        <p:txBody>
          <a:bodyPr lIns="91440" tIns="45720" rIns="91440" bIns="45720" anchor="t">
            <a:normAutofit/>
          </a:bodyPr>
          <a:lstStyle/>
          <a:p>
            <a:r>
              <a:rPr lang="en-US" sz="4000" b="1" cap="all" dirty="0">
                <a:latin typeface="Arial" panose="020B0604020202020204"/>
                <a:cs typeface="Arial" panose="020B0604020202020204"/>
              </a:rPr>
              <a:t>References:</a:t>
            </a:r>
            <a:endParaRPr lang="en-US" sz="4000" dirty="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457200" indent="-457200">
              <a:buFont typeface="+mj-lt"/>
              <a:buAutoNum type="arabicPeriod"/>
            </a:pPr>
            <a:r>
              <a:rPr lang="en-IN" sz="1800" dirty="0">
                <a:latin typeface="Calibri" panose="020F0502020204030204" pitchFamily="34" charset="0"/>
                <a:ea typeface="Calibri" panose="020F0502020204030204" pitchFamily="34" charset="0"/>
                <a:cs typeface="Calibri" panose="020F0502020204030204" pitchFamily="34" charset="0"/>
              </a:rPr>
              <a:t>Microsoft Power BI Official Documentation – </a:t>
            </a:r>
            <a:r>
              <a:rPr lang="en-IN" sz="1800" dirty="0">
                <a:latin typeface="Calibri" panose="020F0502020204030204" pitchFamily="34" charset="0"/>
                <a:ea typeface="Calibri" panose="020F0502020204030204" pitchFamily="34" charset="0"/>
                <a:cs typeface="Calibri" panose="020F0502020204030204" pitchFamily="34" charset="0"/>
                <a:hlinkClick r:id="rId2"/>
              </a:rPr>
              <a:t>https://learn.microsoft.com/power-bi</a:t>
            </a:r>
            <a:endParaRPr lang="en-IN" sz="1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Microsoft Elevate AICTE Internship Learning Resources</a:t>
            </a:r>
          </a:p>
          <a:p>
            <a:pPr marL="457200"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Supply Chain Analytics Concepts and Visualization Techniques</a:t>
            </a:r>
          </a:p>
          <a:p>
            <a:pPr marL="457200"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Power BI Data Modeling and DAX Functions Documentation</a:t>
            </a:r>
            <a:endParaRPr lang="en-IN"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1800" dirty="0">
                <a:latin typeface="Calibri" panose="020F0502020204030204" pitchFamily="34" charset="0"/>
                <a:ea typeface="Calibri" panose="020F0502020204030204" pitchFamily="34" charset="0"/>
                <a:cs typeface="Calibri" panose="020F0502020204030204" pitchFamily="34" charset="0"/>
              </a:rPr>
              <a:t>GitHub Link:</a:t>
            </a:r>
            <a:r>
              <a:rPr lang="en-IN" sz="1800"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IN" sz="1800" u="sng" dirty="0">
                <a:solidFill>
                  <a:srgbClr val="0070C0"/>
                </a:solidFill>
                <a:latin typeface="Calibri" panose="020F0502020204030204" pitchFamily="34" charset="0"/>
                <a:ea typeface="Calibri" panose="020F0502020204030204" pitchFamily="34" charset="0"/>
                <a:cs typeface="Calibri" panose="020F0502020204030204" pitchFamily="34" charset="0"/>
                <a:hlinkClick r:id="rId3"/>
              </a:rPr>
              <a:t>Link</a:t>
            </a:r>
            <a:endParaRPr lang="en-IN" sz="1800" u="sng"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1800" u="sng"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200" dirty="0">
              <a:latin typeface="Franklin Gothic Book" panose="020B05030201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754</Words>
  <Application>Microsoft Office PowerPoint</Application>
  <PresentationFormat>Widescreen</PresentationFormat>
  <Paragraphs>74</Paragraphs>
  <Slides>12</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dashboard:</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Parth Lad</cp:lastModifiedBy>
  <cp:revision>105</cp:revision>
  <dcterms:created xsi:type="dcterms:W3CDTF">2024-05-21T11:55:00Z</dcterms:created>
  <dcterms:modified xsi:type="dcterms:W3CDTF">2026-03-10T05:17:07Z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